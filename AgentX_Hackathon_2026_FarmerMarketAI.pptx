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25A00B-5A69-4B73-9C15-627825AA7132}" v="1" dt="2026-09-17T16:05:53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7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teja" userId="f03bc77fdeead56a" providerId="LiveId" clId="{F8BE7EAE-D8DD-43C1-954E-C11F592F27AC}"/>
    <pc:docChg chg="undo custSel modSld">
      <pc:chgData name="sai teja" userId="f03bc77fdeead56a" providerId="LiveId" clId="{F8BE7EAE-D8DD-43C1-954E-C11F592F27AC}" dt="2026-09-17T16:06:29.407" v="493" actId="21"/>
      <pc:docMkLst>
        <pc:docMk/>
      </pc:docMkLst>
      <pc:sldChg chg="delSp modSp mod">
        <pc:chgData name="sai teja" userId="f03bc77fdeead56a" providerId="LiveId" clId="{F8BE7EAE-D8DD-43C1-954E-C11F592F27AC}" dt="2026-09-17T16:05:56.024" v="488"/>
        <pc:sldMkLst>
          <pc:docMk/>
          <pc:sldMk cId="0" sldId="256"/>
        </pc:sldMkLst>
        <pc:spChg chg="mod">
          <ac:chgData name="sai teja" userId="f03bc77fdeead56a" providerId="LiveId" clId="{F8BE7EAE-D8DD-43C1-954E-C11F592F27AC}" dt="2026-09-17T16:05:36.284" v="484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sai teja" userId="f03bc77fdeead56a" providerId="LiveId" clId="{F8BE7EAE-D8DD-43C1-954E-C11F592F27AC}" dt="2026-09-17T16:05:53.505" v="48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sai teja" userId="f03bc77fdeead56a" providerId="LiveId" clId="{F8BE7EAE-D8DD-43C1-954E-C11F592F27AC}" dt="2026-09-17T16:05:56.024" v="48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sai teja" userId="f03bc77fdeead56a" providerId="LiveId" clId="{F8BE7EAE-D8DD-43C1-954E-C11F592F27AC}" dt="2026-09-17T16:06:07.376" v="490" actId="21"/>
        <pc:sldMkLst>
          <pc:docMk/>
          <pc:sldMk cId="0" sldId="257"/>
        </pc:sldMkLst>
        <pc:spChg chg="del mod">
          <ac:chgData name="sai teja" userId="f03bc77fdeead56a" providerId="LiveId" clId="{F8BE7EAE-D8DD-43C1-954E-C11F592F27AC}" dt="2026-09-17T16:06:07.376" v="490" actId="21"/>
          <ac:spMkLst>
            <pc:docMk/>
            <pc:sldMk cId="0" sldId="257"/>
            <ac:spMk id="4" creationId="{00000000-0000-0000-0000-000000000000}"/>
          </ac:spMkLst>
        </pc:spChg>
        <pc:spChg chg="mod">
          <ac:chgData name="sai teja" userId="f03bc77fdeead56a" providerId="LiveId" clId="{F8BE7EAE-D8DD-43C1-954E-C11F592F27AC}" dt="2026-09-17T15:58:56.541" v="131" actId="20577"/>
          <ac:spMkLst>
            <pc:docMk/>
            <pc:sldMk cId="0" sldId="257"/>
            <ac:spMk id="7" creationId="{00000000-0000-0000-0000-000000000000}"/>
          </ac:spMkLst>
        </pc:spChg>
      </pc:sldChg>
      <pc:sldChg chg="delSp modSp mod">
        <pc:chgData name="sai teja" userId="f03bc77fdeead56a" providerId="LiveId" clId="{F8BE7EAE-D8DD-43C1-954E-C11F592F27AC}" dt="2026-09-17T16:06:14.044" v="491" actId="21"/>
        <pc:sldMkLst>
          <pc:docMk/>
          <pc:sldMk cId="0" sldId="258"/>
        </pc:sldMkLst>
        <pc:spChg chg="del">
          <ac:chgData name="sai teja" userId="f03bc77fdeead56a" providerId="LiveId" clId="{F8BE7EAE-D8DD-43C1-954E-C11F592F27AC}" dt="2026-09-17T16:06:14.044" v="491" actId="21"/>
          <ac:spMkLst>
            <pc:docMk/>
            <pc:sldMk cId="0" sldId="258"/>
            <ac:spMk id="4" creationId="{00000000-0000-0000-0000-000000000000}"/>
          </ac:spMkLst>
        </pc:spChg>
        <pc:spChg chg="mod">
          <ac:chgData name="sai teja" userId="f03bc77fdeead56a" providerId="LiveId" clId="{F8BE7EAE-D8DD-43C1-954E-C11F592F27AC}" dt="2026-09-17T15:58:44.657" v="99" actId="20577"/>
          <ac:spMkLst>
            <pc:docMk/>
            <pc:sldMk cId="0" sldId="258"/>
            <ac:spMk id="7" creationId="{00000000-0000-0000-0000-000000000000}"/>
          </ac:spMkLst>
        </pc:spChg>
      </pc:sldChg>
      <pc:sldChg chg="delSp modSp mod">
        <pc:chgData name="sai teja" userId="f03bc77fdeead56a" providerId="LiveId" clId="{F8BE7EAE-D8DD-43C1-954E-C11F592F27AC}" dt="2026-09-17T16:06:18.564" v="492" actId="21"/>
        <pc:sldMkLst>
          <pc:docMk/>
          <pc:sldMk cId="0" sldId="259"/>
        </pc:sldMkLst>
        <pc:spChg chg="del">
          <ac:chgData name="sai teja" userId="f03bc77fdeead56a" providerId="LiveId" clId="{F8BE7EAE-D8DD-43C1-954E-C11F592F27AC}" dt="2026-09-17T16:06:18.564" v="492" actId="21"/>
          <ac:spMkLst>
            <pc:docMk/>
            <pc:sldMk cId="0" sldId="259"/>
            <ac:spMk id="4" creationId="{00000000-0000-0000-0000-000000000000}"/>
          </ac:spMkLst>
        </pc:spChg>
        <pc:spChg chg="mod">
          <ac:chgData name="sai teja" userId="f03bc77fdeead56a" providerId="LiveId" clId="{F8BE7EAE-D8DD-43C1-954E-C11F592F27AC}" dt="2026-09-17T15:58:27.161" v="65" actId="20577"/>
          <ac:spMkLst>
            <pc:docMk/>
            <pc:sldMk cId="0" sldId="259"/>
            <ac:spMk id="7" creationId="{00000000-0000-0000-0000-000000000000}"/>
          </ac:spMkLst>
        </pc:spChg>
      </pc:sldChg>
      <pc:sldChg chg="delSp modSp mod">
        <pc:chgData name="sai teja" userId="f03bc77fdeead56a" providerId="LiveId" clId="{F8BE7EAE-D8DD-43C1-954E-C11F592F27AC}" dt="2026-09-17T16:06:29.407" v="493" actId="21"/>
        <pc:sldMkLst>
          <pc:docMk/>
          <pc:sldMk cId="0" sldId="260"/>
        </pc:sldMkLst>
        <pc:spChg chg="del">
          <ac:chgData name="sai teja" userId="f03bc77fdeead56a" providerId="LiveId" clId="{F8BE7EAE-D8DD-43C1-954E-C11F592F27AC}" dt="2026-09-17T16:06:29.407" v="493" actId="21"/>
          <ac:spMkLst>
            <pc:docMk/>
            <pc:sldMk cId="0" sldId="260"/>
            <ac:spMk id="4" creationId="{00000000-0000-0000-0000-000000000000}"/>
          </ac:spMkLst>
        </pc:spChg>
        <pc:spChg chg="mod">
          <ac:chgData name="sai teja" userId="f03bc77fdeead56a" providerId="LiveId" clId="{F8BE7EAE-D8DD-43C1-954E-C11F592F27AC}" dt="2026-09-17T15:58:14.886" v="33" actId="20577"/>
          <ac:spMkLst>
            <pc:docMk/>
            <pc:sldMk cId="0" sldId="260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899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800" b="1">
                <a:solidFill>
                  <a:srgbClr val="FFFFFF"/>
                </a:solidFill>
                <a:latin typeface="Consolas"/>
              </a:defRPr>
            </a:pPr>
            <a:r>
              <a:t>AgentX Hackathon 2026</a:t>
            </a:r>
          </a:p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  <a:latin typeface="Consolas"/>
              </a:defRPr>
            </a:pPr>
            <a:r>
              <a:t>Team Submission Template</a:t>
            </a:r>
          </a:p>
          <a:p>
            <a:pPr>
              <a:defRPr sz="1250">
                <a:solidFill>
                  <a:srgbClr val="94A3B8"/>
                </a:solidFill>
                <a:latin typeface="Segoe UI"/>
              </a:defRPr>
            </a:pPr>
            <a:r>
              <a:t>Use this deck to capture the problem, agent workflow, MVP and impact.</a:t>
            </a:r>
            <a:br/>
            <a:r>
              <a:t>Keep answers short and evidence-based.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0280"/>
            <a:ext cx="5120640" cy="38404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18288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  <a:latin typeface="Consolas"/>
              </a:defRPr>
            </a:pPr>
            <a:r>
              <a:rPr dirty="0"/>
              <a:t>Team Details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Team Name:</a:t>
            </a:r>
            <a:r>
              <a:rPr lang="en-IN" sz="1200" b="1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IN" sz="1150" dirty="0" err="1">
                <a:solidFill>
                  <a:srgbClr val="38BDF8"/>
                </a:solidFill>
                <a:latin typeface="Segoe UI"/>
              </a:rPr>
              <a:t>Agrominds</a:t>
            </a:r>
            <a:endParaRPr sz="1150" dirty="0">
              <a:solidFill>
                <a:srgbClr val="38BDF8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Team Lead: </a:t>
            </a:r>
            <a:r>
              <a:rPr lang="en-IN" sz="1150" b="1" dirty="0">
                <a:solidFill>
                  <a:srgbClr val="38BDF8"/>
                </a:solidFill>
                <a:latin typeface="Segoe UI"/>
              </a:rPr>
              <a:t>Nithisha</a:t>
            </a:r>
            <a:endParaRPr sz="1150" dirty="0">
              <a:solidFill>
                <a:srgbClr val="38BDF8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Members: </a:t>
            </a:r>
            <a:r>
              <a:rPr sz="1150" dirty="0">
                <a:solidFill>
                  <a:srgbClr val="38BDF8"/>
                </a:solidFill>
                <a:latin typeface="Segoe UI"/>
              </a:rPr>
              <a:t>Sai Teja</a:t>
            </a:r>
            <a:r>
              <a:rPr lang="en-IN" sz="1150" dirty="0">
                <a:solidFill>
                  <a:srgbClr val="38BDF8"/>
                </a:solidFill>
                <a:latin typeface="Segoe UI"/>
              </a:rPr>
              <a:t> , Keerthi</a:t>
            </a:r>
            <a:r>
              <a:rPr sz="1150" dirty="0">
                <a:solidFill>
                  <a:srgbClr val="38BDF8"/>
                </a:solidFill>
                <a:latin typeface="Segoe UI"/>
              </a:rPr>
              <a:t> </a:t>
            </a: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College: </a:t>
            </a:r>
            <a:r>
              <a:rPr lang="en-IN" sz="1150" dirty="0">
                <a:solidFill>
                  <a:srgbClr val="38BDF8"/>
                </a:solidFill>
                <a:latin typeface="Segoe UI"/>
              </a:rPr>
              <a:t>Guru Nanak Institutional Technical Campus (GNITC)</a:t>
            </a:r>
            <a:endParaRPr sz="1150" dirty="0">
              <a:solidFill>
                <a:srgbClr val="38BDF8"/>
              </a:solidFill>
              <a:latin typeface="Segoe UI"/>
            </a:endParaRPr>
          </a:p>
          <a:p>
            <a:pPr>
              <a:spcAft>
                <a:spcPts val="10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Theme Selected: </a:t>
            </a:r>
            <a:r>
              <a:rPr sz="1150" dirty="0">
                <a:solidFill>
                  <a:srgbClr val="38BDF8"/>
                </a:solidFill>
                <a:latin typeface="Segoe UI"/>
              </a:rPr>
              <a:t>A</a:t>
            </a:r>
            <a:r>
              <a:rPr lang="en-IN" sz="1150" dirty="0" err="1">
                <a:solidFill>
                  <a:srgbClr val="38BDF8"/>
                </a:solidFill>
                <a:latin typeface="Segoe UI"/>
              </a:rPr>
              <a:t>gentic</a:t>
            </a:r>
            <a:r>
              <a:rPr lang="en-IN" sz="1150" dirty="0">
                <a:solidFill>
                  <a:srgbClr val="38BDF8"/>
                </a:solidFill>
                <a:latin typeface="Segoe UI"/>
              </a:rPr>
              <a:t> AI for Agriculture &amp; Food Systems</a:t>
            </a:r>
            <a:endParaRPr sz="1150" dirty="0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8400" y="2240280"/>
            <a:ext cx="5212080" cy="38404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18288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F59E0B"/>
                </a:solidFill>
                <a:latin typeface="Consolas"/>
              </a:defRPr>
            </a:pPr>
            <a:r>
              <a:rPr dirty="0"/>
              <a:t>Project Details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Project Title:
</a:t>
            </a:r>
            <a:r>
              <a:rPr sz="1100" dirty="0" err="1">
                <a:solidFill>
                  <a:srgbClr val="38BDF8"/>
                </a:solidFill>
                <a:latin typeface="Segoe UI"/>
              </a:rPr>
              <a:t>FarmerMarketAI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: Autonomous Agentic Intelligence for Fair Mandi Pricing &amp; Net-Profit Logistics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Theme:
</a:t>
            </a:r>
            <a:r>
              <a:rPr lang="en-US" sz="1100" dirty="0">
                <a:solidFill>
                  <a:srgbClr val="38BDF8"/>
                </a:solidFill>
                <a:latin typeface="Segoe UI"/>
              </a:rPr>
              <a:t> Agentic AI for Agriculture &amp; Food Systems</a:t>
            </a:r>
            <a:endParaRPr sz="1100" dirty="0">
              <a:solidFill>
                <a:srgbClr val="38BDF8"/>
              </a:solidFill>
              <a:latin typeface="Segoe UI"/>
            </a:endParaRP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Demo Link / Repository:
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https://github.com/saiteja</a:t>
            </a:r>
            <a:r>
              <a:rPr lang="en-IN" sz="1100" dirty="0">
                <a:solidFill>
                  <a:srgbClr val="38BDF8"/>
                </a:solidFill>
                <a:latin typeface="Segoe UI"/>
              </a:rPr>
              <a:t>sagar99/</a:t>
            </a:r>
            <a:r>
              <a:rPr sz="1100" dirty="0" err="1">
                <a:solidFill>
                  <a:srgbClr val="38BDF8"/>
                </a:solidFill>
                <a:latin typeface="Segoe UI"/>
              </a:rPr>
              <a:t>FarmerMarketAI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
(Live Demo: </a:t>
            </a:r>
            <a:r>
              <a:rPr sz="1100" dirty="0" err="1">
                <a:solidFill>
                  <a:srgbClr val="38BDF8"/>
                </a:solidFill>
                <a:latin typeface="Segoe UI"/>
              </a:rPr>
              <a:t>Streamlit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 Port 8501 + </a:t>
            </a:r>
            <a:r>
              <a:rPr sz="1100" dirty="0" err="1">
                <a:solidFill>
                  <a:srgbClr val="38BDF8"/>
                </a:solidFill>
                <a:latin typeface="Segoe UI"/>
              </a:rPr>
              <a:t>FastAPI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 Port 8000)</a:t>
            </a:r>
          </a:p>
          <a:p>
            <a:pPr>
              <a:spcAft>
                <a:spcPts val="800"/>
              </a:spcAft>
            </a:pPr>
            <a:r>
              <a:rPr sz="1200" b="1" dirty="0">
                <a:solidFill>
                  <a:srgbClr val="FFFFFF"/>
                </a:solidFill>
                <a:latin typeface="Consolas"/>
              </a:rPr>
              <a:t>Contact Number:
</a:t>
            </a:r>
            <a:r>
              <a:rPr sz="1100" dirty="0">
                <a:solidFill>
                  <a:srgbClr val="38BDF8"/>
                </a:solidFill>
                <a:latin typeface="Segoe UI"/>
              </a:rPr>
              <a:t>+91  </a:t>
            </a:r>
            <a:r>
              <a:rPr lang="en-IN" sz="1100" dirty="0">
                <a:solidFill>
                  <a:srgbClr val="38BDF8"/>
                </a:solidFill>
                <a:latin typeface="Segoe UI"/>
              </a:rPr>
              <a:t>8340854578</a:t>
            </a:r>
            <a:endParaRPr sz="1100" dirty="0">
              <a:solidFill>
                <a:srgbClr val="38BDF8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TKREC Department of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onsolas"/>
              </a:defRPr>
            </a:pPr>
            <a:r>
              <a:t>AgentX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onsolas"/>
              </a:defRPr>
            </a:pPr>
            <a:r>
              <a:t>Problem and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Explain the problem clearly before describing the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43468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Team Name: </a:t>
            </a:r>
            <a:r>
              <a:rPr dirty="0" err="1"/>
              <a:t>Agr</a:t>
            </a:r>
            <a:r>
              <a:rPr lang="en-IN" dirty="0" err="1"/>
              <a:t>ominds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94A3B8"/>
                </a:solidFill>
                <a:latin typeface="Consolas"/>
              </a:defRPr>
            </a:pPr>
            <a:r>
              <a:t>2/5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Problem Statement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Smallholder farmers lose 30-35% profit due to severe mandi price asymmetry, middleman exploitation, and lack of holding intelligence.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Perishable produce (tomatoes, chillies) rot rapidly post-harvest, while hardy grains (paddy, maize) suffer distress sales.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Freight blindness: Farmers pay steep commercial transport without knowing if distance outweighs mandi price gains.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Target User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Smallholder &amp; Marginal Farmers (&lt; 500 kg harvest) who cannot afford truck transport and need local Rythu Bazars.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Commercial Bulk Farmers (&gt; 500 kg) seeking highest APMC net profits with weighbridge &amp; auction liquidity.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Non-Tech/Illiterate Producers requiring native mother-tongue voice dialogue (Telugu, Hindi) to make informed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Current Gap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Slow &amp; Fragmented: Manual calls to village agents; government portals are static tables lacking logistics advice.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Costly &amp; Blind: Haulage costs, mandi loading fees, and 4% commissions are never factored into gross pricing.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Siloed Systems: Zero correlation between biological crop degradation rate, GPS weather, and 3-day future price prediction.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Expected Outcome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+18% to +25% net in-hand earnings by eliminating middlemen and routing small batches to 0%-commission Rythu Bazars.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Clear SELL NOW vs WAIT recommendations backed by multi-factor ML price forecasting and spoilage penalty models.</a:t>
            </a:r>
          </a:p>
          <a:p>
            <a:pPr>
              <a:spcAft>
                <a:spcPts val="300"/>
              </a:spcAft>
              <a:defRPr sz="1050">
                <a:solidFill>
                  <a:srgbClr val="E2E8F0"/>
                </a:solidFill>
                <a:latin typeface="Segoe UI"/>
              </a:defRPr>
            </a:pPr>
            <a:r>
              <a:t>• Zero digital barrier: Farmer speaks naturally in Telugu/Hindi, receives synthesized voice audio advice, and navigates via Google Maps.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onsolas"/>
              </a:defRPr>
            </a:pPr>
            <a:r>
              <a:t>AgentX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onsolas"/>
              </a:defRPr>
            </a:pPr>
            <a:r>
              <a:t>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Show how the agent thinks, uses tools and produces an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43468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Team Name: </a:t>
            </a:r>
            <a:r>
              <a:rPr dirty="0" err="1"/>
              <a:t>Agr</a:t>
            </a:r>
            <a:r>
              <a:rPr lang="en-IN" dirty="0" err="1"/>
              <a:t>ominds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94A3B8"/>
                </a:solidFill>
                <a:latin typeface="Consolas"/>
              </a:defRPr>
            </a:pPr>
            <a:r>
              <a:t>3/5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2066543" cy="24688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Input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Mother-tongue speech audio (Telugu/Hindi) or text.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Crop name (e.g. వరి/धान, Tomato, Onion).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Batch qty (kg/bags/quintal).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Harvest date &amp; farmer location.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7" y="1874519"/>
            <a:ext cx="2066543" cy="24688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Agent Role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Autonomous Market Orchestrator.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Decomposes query into intent.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Activates specialized sub-agents: Geo-router, ML Price Predictor, Net Profit Optimizer &amp; Voice Advisor.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65774" y="1874519"/>
            <a:ext cx="2066543" cy="24688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Decision Logic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Multi-factor scoring model.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ML 3-Day Forecast Delta vs Crop Spoilage Decay Penalty.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Transport Deduction: ₹2.5/km.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Batch Mode: Small (≤500kg) → Rythu Bazar; Bulk → Wholesale APMC.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2901" y="1874519"/>
            <a:ext cx="2066543" cy="24688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Tools / Data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Agmarknet APMC live daily rates.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OSRM / Google Maps Road GPS.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SQLite historical price database.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Open-Meteo Agro-weather API.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Random Forest ML Price Engine.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0028" y="1874519"/>
            <a:ext cx="2066543" cy="246888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64592" rIns="146304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F59E0B"/>
                </a:solidFill>
                <a:latin typeface="Consolas"/>
              </a:defRPr>
            </a:pPr>
            <a:r>
              <a:t>Output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Unambiguous SELL NOW / WAIT.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Recommended market with 1-tap Google Maps GPS turn-by-turn.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True net take-home cash breakdown.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Spoken audio advice in native tongue.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26280"/>
            <a:ext cx="5212080" cy="16916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Human Approval Point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Farmer explicitly reviews net in-hand revenue vs waiting price delta before dispatching harvest cargo.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Manual override capability: Farmer can fine-tune quality grade (Grade A/B/C) based on on-field visual inspection.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One-time mobile OTP confirmation guarantees authenticity of farmer profile and customized records.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526280"/>
            <a:ext cx="5212080" cy="16916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Failure Handling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Mandi API / Network Offline: Automatically falls back to regional moving averages &amp; nearest verified APMC DB.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Speech Recognition Noise / Accent Failure: Multi-layered regional slang dictionary + 1-tap visual preset scenarios.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Extreme Weather Hazard (Rain / Heatwave): Proactively triggers instant SELL NOW alert to prevent rotting.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onsolas"/>
              </a:defRPr>
            </a:pPr>
            <a:r>
              <a:t>AgentX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onsolas"/>
              </a:defRPr>
            </a:pPr>
            <a:r>
              <a:t>Solution and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Describe what you will demonstrate during judging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43468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Team Name: </a:t>
            </a:r>
            <a:r>
              <a:rPr dirty="0" err="1"/>
              <a:t>Agr</a:t>
            </a:r>
            <a:r>
              <a:rPr lang="en-IN" dirty="0" err="1"/>
              <a:t>ominds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94A3B8"/>
                </a:solidFill>
                <a:latin typeface="Consolas"/>
              </a:defRPr>
            </a:pPr>
            <a:r>
              <a:t>4/5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Proposed Solution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FarmerMarketAI: An autonomous agent platform combining real-time mandi prices, ML price forecasting, haulage net profit calculation, and native mother-tongue voice dialogue.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Zero-Literacy Voice Bridge: Farmers speak naturally in Telugu/Hindi; agent processes agronomic economics and speaks back clear, actionable guidance.</a:t>
            </a:r>
          </a:p>
          <a:p>
            <a:pPr>
              <a:spcAft>
                <a:spcPts val="250"/>
              </a:spcAft>
              <a:defRPr sz="1000">
                <a:solidFill>
                  <a:srgbClr val="E2E8F0"/>
                </a:solidFill>
                <a:latin typeface="Segoe UI"/>
              </a:defRPr>
            </a:pPr>
            <a:r>
              <a:t>• Quantity-Calibrated Routing: Small batches (≤500kg) routed to 0%-commission local Rythu Bazars, bulk crops to high-liquidity wholesale APMC mandis.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Technology Stack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Frontend: </a:t>
            </a:r>
            <a:r>
              <a:rPr sz="950">
                <a:solidFill>
                  <a:srgbClr val="38BDF8"/>
                </a:solidFill>
                <a:latin typeface="Segoe UI"/>
              </a:rPr>
              <a:t>Streamlit 1.63 (Adaptive UI, Audio Input, Razorpay Design Tokens)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Backend &amp; DB: </a:t>
            </a:r>
            <a:r>
              <a:rPr sz="950">
                <a:solidFill>
                  <a:srgbClr val="38BDF8"/>
                </a:solidFill>
                <a:latin typeface="Segoe UI"/>
              </a:rPr>
              <a:t>FastAPI, Python 3.13, SQLite with daily Agmarknet sync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Agent &amp; LLM: </a:t>
            </a:r>
            <a:r>
              <a:rPr sz="950">
                <a:solidFill>
                  <a:srgbClr val="38BDF8"/>
                </a:solidFill>
                <a:latin typeface="Segoe UI"/>
              </a:rPr>
              <a:t>LangGraph / Custom Market Agent, OpenAI GPT-4o-mini &amp; Whisper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ML Engine: </a:t>
            </a:r>
            <a:r>
              <a:rPr sz="950">
                <a:solidFill>
                  <a:srgbClr val="38BDF8"/>
                </a:solidFill>
                <a:latin typeface="Segoe UI"/>
              </a:rPr>
              <a:t>Scikit-learn (Random Forest Price Regressor, R²: 0.96+)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Speech &amp; Geo: </a:t>
            </a:r>
            <a:r>
              <a:rPr sz="950">
                <a:solidFill>
                  <a:srgbClr val="38BDF8"/>
                </a:solidFill>
                <a:latin typeface="Segoe UI"/>
              </a:rPr>
              <a:t>gTTS, Web Speech API, Haversine/OSRM Navigation, Open-Meteo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60520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Demo Flow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Step 1 (Voice In): </a:t>
            </a:r>
            <a:r>
              <a:rPr sz="950">
                <a:solidFill>
                  <a:srgbClr val="E2E8F0"/>
                </a:solidFill>
                <a:latin typeface="Segoe UI"/>
              </a:rPr>
              <a:t>Farmer speaks: 'నా దగ్గర 50 కిలోల వరి ఉంది, జనగాంలో ఎక్కడ అమ్మాలి?'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Step 2 (AI Extraction): </a:t>
            </a:r>
            <a:r>
              <a:rPr sz="950">
                <a:solidFill>
                  <a:srgbClr val="E2E8F0"/>
                </a:solidFill>
                <a:latin typeface="Segoe UI"/>
              </a:rPr>
              <a:t>Agent extracts Rice, 50kg, Jangaon; detects small-batch mode.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Step 3 (Analysis): </a:t>
            </a:r>
            <a:r>
              <a:rPr sz="950">
                <a:solidFill>
                  <a:srgbClr val="E2E8F0"/>
                </a:solidFill>
                <a:latin typeface="Segoe UI"/>
              </a:rPr>
              <a:t>Discovers markets in radius, predicts 3-day trend, deducts fuel.</a:t>
            </a:r>
          </a:p>
          <a:p>
            <a:pPr>
              <a:spcAft>
                <a:spcPts val="250"/>
              </a:spcAft>
            </a:pPr>
            <a:r>
              <a:rPr sz="1000" b="1">
                <a:solidFill>
                  <a:srgbClr val="F59E0B"/>
                </a:solidFill>
                <a:latin typeface="Consolas"/>
              </a:rPr>
              <a:t>Final Output: </a:t>
            </a:r>
            <a:r>
              <a:rPr sz="950">
                <a:solidFill>
                  <a:srgbClr val="E2E8F0"/>
                </a:solidFill>
                <a:latin typeface="Segoe UI"/>
              </a:rPr>
              <a:t>Instant SELL/WAIT decision, 1-tap Google Maps, and audio advice.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212080" cy="205740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F59E0B"/>
                </a:solidFill>
                <a:latin typeface="Consolas"/>
              </a:defRPr>
            </a:pPr>
            <a:r>
              <a:t>Evidence of MVP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Live Deployed System: Interactive Streamlit UI live at http://localhost:8501 and FastAPI backend at http://127.0.0.1:8000.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Live Mandi Radar: Active database populated with real daily Agmarknet rates across Telangana (Bowenpally, Gudimalkapur, Jangaon, Bhongir).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Verified Multi-Lingual TTS: Generated clean 372 KB spoken Telugu audio and 232 KB Hindi audio verified in live pipeline.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Scientific Degradation Matrix: Live interactive table modeling post-harvest decay from 0 to 120 days across 6 primary staple crops.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onsolas"/>
              </a:defRPr>
            </a:pPr>
            <a:r>
              <a:t>AgentX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onsolas"/>
              </a:defRPr>
            </a:pPr>
            <a:r>
              <a:t>Impact, Feasibility and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Help the jury judge usefulness, originality and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43468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>
                <a:solidFill>
                  <a:srgbClr val="94A3B8"/>
                </a:solidFill>
                <a:latin typeface="Segoe UI"/>
              </a:defRPr>
            </a:pPr>
            <a:r>
              <a:rPr dirty="0"/>
              <a:t>Team Name: Ag</a:t>
            </a:r>
            <a:r>
              <a:rPr lang="en-IN" dirty="0" err="1"/>
              <a:t>rominds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914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50">
                <a:solidFill>
                  <a:srgbClr val="94A3B8"/>
                </a:solidFill>
                <a:latin typeface="Consolas"/>
              </a:defRPr>
            </a:pPr>
            <a:r>
              <a:t>5/5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410712" cy="21488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Impact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+18% to +25% net profit increase per harvest by avoiding redundant haulage fees &amp; commission cuts.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Saves 4 to 6 hours of manual mandi price scouting per sale cycle.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Reduces post-harvest produce spoilage by ~30% with timely SELL/WAIT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10712" cy="21488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Innovation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Beyond Chatbots: Autonomous multi-tool agent that models live road physics, weather, and spoilage economics.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Small-Batch Intelligence: First solution tailoring direct retail Rythu Bazar runs for small farmers (≤500kg).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Bidirectional Mother-Tongue Voice: Native speech recognition and TTS playback in Telugu, Hindi &amp; English.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74519"/>
            <a:ext cx="3410712" cy="21488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Feasibility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Completed in 24-36 Hours: Operational end-to-end MVP with live FastAPI backend, ML price models, voice parser &amp; TTS.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Future Roadmap: WhatsApp / IVR telephone voice assistant for basic feature phones without internet.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Direct Buyer Aggregation: Digital contracting with local restaurants, hotels &amp; institutional buyers.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5212080" cy="16916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Risks and Safeguards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Price Volatility Risk: ML outputs show confidence levels and MAE boundaries; advises safe holding windows.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Field Noise / Dialect Variations: Multi-lingual slang regex dictionary + 1-tap instant preset fallback buttons.</a:t>
            </a:r>
          </a:p>
          <a:p>
            <a:pPr>
              <a:spcAft>
                <a:spcPts val="25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Data Privacy &amp; Safety: OTP verification; zero banking credentials stored; operates with public government datasets.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60520"/>
            <a:ext cx="5212080" cy="1691640"/>
          </a:xfrm>
          <a:prstGeom prst="roundRect">
            <a:avLst/>
          </a:prstGeom>
          <a:solidFill>
            <a:srgbClr val="0E19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64592" rIns="228600" rtlCol="0" anchor="ctr"/>
          <a:lstStyle/>
          <a:p>
            <a:pPr algn="ctr">
              <a:spcAft>
                <a:spcPts val="500"/>
              </a:spcAft>
              <a:defRPr sz="1350" b="1">
                <a:solidFill>
                  <a:srgbClr val="F59E0B"/>
                </a:solidFill>
                <a:latin typeface="Consolas"/>
              </a:defRPr>
            </a:pPr>
            <a:r>
              <a:t>References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Mandi Data: Agmarknet (Ministry of Agriculture &amp; Farmers Welfare, Govt of India), data.gov.in APIs.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Agro-Weather API: Open-Meteo Global Meteorological Forecast Model (GPS coordinates).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Geospatial Routing: OpenStreetMap (OSRM) &amp; Google Maps Platform Geocoding / Direction APIs.</a:t>
            </a:r>
          </a:p>
          <a:p>
            <a:pPr>
              <a:spcAft>
                <a:spcPts val="200"/>
              </a:spcAft>
              <a:defRPr sz="950">
                <a:solidFill>
                  <a:srgbClr val="E2E8F0"/>
                </a:solidFill>
                <a:latin typeface="Segoe UI"/>
              </a:defRPr>
            </a:pPr>
            <a:r>
              <a:t>• AI &amp; Voice: OpenAI GPT-4o-mini &amp; Whisper-1, Google Text-to-Speech (gTTS), Web Speech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Consolas"/>
              </a:defRPr>
            </a:pPr>
            <a:r>
              <a:t>Final checklist: workflow shown, MVP visible, demo link added, team details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1434</Words>
  <Application>Microsoft Office PowerPoint</Application>
  <PresentationFormat>Widescreen</PresentationFormat>
  <Paragraphs>126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teja</cp:lastModifiedBy>
  <cp:revision>1</cp:revision>
  <dcterms:created xsi:type="dcterms:W3CDTF">2013-01-27T09:14:16Z</dcterms:created>
  <dcterms:modified xsi:type="dcterms:W3CDTF">2026-09-17T16:06:29Z</dcterms:modified>
  <cp:category/>
</cp:coreProperties>
</file>